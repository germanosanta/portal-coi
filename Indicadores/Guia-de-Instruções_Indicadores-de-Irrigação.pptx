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7A7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26FF1-0B1F-50E5-9B7E-45320F845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295955-7B53-CCF3-B9D8-D7EE69FC6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756CD3-E598-5F97-1C3A-F4E8753A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76BEB-5540-677A-D99C-958597B14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EA52B7-AD90-DA13-F2FC-4CAE4597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94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5F6C4-1CE1-E4C4-DD39-0897EA88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433B8A-20E6-905F-263F-ECA86894A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8719C6-9B35-790B-E1B7-A8ACC10FB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DF12F5-0D48-BB98-3193-9ACCDAA4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BC0449-FCC2-AC9B-FDFC-06CD4B54E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471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944E3-24E1-38CC-2779-5B1C337DF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7A21DB-2B5D-4FA3-E712-7FD85119A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12488C-9839-1D11-7121-64B82EDB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515B26-D63A-12F8-6D4E-058D3310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C9E712-931C-672E-7CD0-5073174E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9599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77146-C616-9B6F-29EA-871ECC78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6EDE4C-E867-245B-B66A-1F6A365EB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67F39F-08DA-9E5E-2A38-B20EDF74C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E1D5C6-F015-197A-F2DD-A01209F6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96F96F-BDB7-4FDA-2593-EBACD560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846FD6-8548-179F-1074-19A7F6A6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434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FF95A-6428-0716-DCA2-082B74AF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FACE1-7CB4-67C6-F926-AE0E6B208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D56C61-9C69-13D1-299A-500E7593E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F5DF72-199E-8174-71F7-764491BCC5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2A05A0-25F4-CA01-6487-344121602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920978C-E178-9C3B-A8E3-40BAEB17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5C99DA-54C0-BCCF-D87C-AAFBF47D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C991EC1-0D3C-2B2B-998E-F69779C5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303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26BE-AB3C-C6CD-0B9D-A101A786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EA3278-E00F-CA7A-E98C-5F2916AE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710240E-3553-BBBB-D77D-4EBC4D46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92BD6C7-B255-1E1D-9D62-A6F5E9B6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22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CD8F57-24B6-762C-2C93-C566B8BC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70C3C9-6298-D629-2B13-D0502FA4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F7765-D6A8-31DD-B245-7964A1A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53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8A123-8140-CE05-E7DC-1FF3E2B9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0FD7CF-331A-2C40-007A-F932FB6C1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84AAE0-EC3E-36EC-1D97-2F54AB08B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EB65A6-0818-0330-F8F5-1EB7307B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03F547-0E5D-F442-CBE8-639A8CF6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99CCE3-49AD-4E51-EB1C-33A961FE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54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9A4E9-2347-7864-BF39-B49572C1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FE2731-C91B-1010-D80B-CCF71D3A3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309216-5F6C-D8E2-8D7A-EBB454A1E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D12DE3-F801-ACD3-B745-8BE8B31E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6F5CFC-33E1-DDDD-01C9-F7D7BCD6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82D920-6FA1-A5AE-38BE-38C7F8F7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098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721CC-CD01-5770-520C-2D334A2E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168159-B39A-EDE1-6630-7C49C9149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095AD6-C6A3-4E24-6726-8EB0748F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4EDD68-4F55-823F-28E8-E6569EBE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35467D-79F6-C816-3D05-2B04C10C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4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8E03D6-0B3D-93FD-D1E8-E6A6C6B04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0DFAD7-C68F-F9E0-75AB-700DA9530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CE0203-716A-C099-3B2B-1668A18D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A35D38-412A-FBF8-49B2-2BC4D415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8C49B2-9B2A-90F2-6B59-FBEB6324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28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2819EE6-3C79-24E9-1378-964E7465D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118FAA-2AD2-2F93-2350-EA048E8DC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1C6D18-6CE6-B535-2092-DDC98BC55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60C7D-1214-4DF2-B3F3-486D901DE557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594D14-3F5D-39C8-BE72-613E9B1B0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CF319A-F28B-8814-D779-123D1CAD5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7DF0B-3A8B-40E0-BD41-C0CB47939A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617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D26F6-C784-8F12-3F8C-5D56E68E3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4F7A79"/>
          </a:solidFill>
          <a:ln>
            <a:solidFill>
              <a:srgbClr val="4F7A7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pt-BR" sz="7200" i="1" u="sng" dirty="0">
                <a:solidFill>
                  <a:schemeClr val="bg1"/>
                </a:solidFill>
              </a:rPr>
              <a:t>Guia de Lançamentos para os Indicadores de Irrigação</a:t>
            </a:r>
          </a:p>
        </p:txBody>
      </p:sp>
    </p:spTree>
    <p:extLst>
      <p:ext uri="{BB962C8B-B14F-4D97-AF65-F5344CB8AC3E}">
        <p14:creationId xmlns:p14="http://schemas.microsoft.com/office/powerpoint/2010/main" val="3476060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5AD843DF-BFE1-6411-3928-B2611D5B7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1" y="240851"/>
            <a:ext cx="11048999" cy="414453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E048A4D-8D31-8716-6D36-3B8AC898EBAE}"/>
              </a:ext>
            </a:extLst>
          </p:cNvPr>
          <p:cNvSpPr/>
          <p:nvPr/>
        </p:nvSpPr>
        <p:spPr>
          <a:xfrm>
            <a:off x="136848" y="4769687"/>
            <a:ext cx="11784564" cy="15378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i="1" dirty="0"/>
              <a:t>Este e o campo de lançamentos para o indicador geral de irrigação, nele será informado o que foi feito e o que não foi feito e seus motivos como falha Operacional, Elétrica,  Mecânica, Chuva e problemas com a rede de energia do fornecedor.  </a:t>
            </a:r>
          </a:p>
        </p:txBody>
      </p:sp>
    </p:spTree>
    <p:extLst>
      <p:ext uri="{BB962C8B-B14F-4D97-AF65-F5344CB8AC3E}">
        <p14:creationId xmlns:p14="http://schemas.microsoft.com/office/powerpoint/2010/main" val="329574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5AD843DF-BFE1-6411-3928-B2611D5B7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1" y="240851"/>
            <a:ext cx="11048999" cy="414453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E048A4D-8D31-8716-6D36-3B8AC898EBAE}"/>
              </a:ext>
            </a:extLst>
          </p:cNvPr>
          <p:cNvSpPr/>
          <p:nvPr/>
        </p:nvSpPr>
        <p:spPr>
          <a:xfrm>
            <a:off x="407436" y="4779018"/>
            <a:ext cx="2286001" cy="998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Primeiro selecione a fazenda, conforme a fazenda selecionada será validado os número somente de seus pivôs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F86476E-393B-C5FA-AE1D-B7E5DD8178E0}"/>
              </a:ext>
            </a:extLst>
          </p:cNvPr>
          <p:cNvSpPr/>
          <p:nvPr/>
        </p:nvSpPr>
        <p:spPr>
          <a:xfrm>
            <a:off x="3040225" y="4881654"/>
            <a:ext cx="1474237" cy="7931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Número do pivô Conforme a fazenda selecionada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5941C9A-47EB-47BA-068F-217B0FE18821}"/>
              </a:ext>
            </a:extLst>
          </p:cNvPr>
          <p:cNvCxnSpPr>
            <a:cxnSpLocks/>
          </p:cNvCxnSpPr>
          <p:nvPr/>
        </p:nvCxnSpPr>
        <p:spPr>
          <a:xfrm flipV="1">
            <a:off x="1116173" y="1101012"/>
            <a:ext cx="871247" cy="36780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EC16036-F323-AC1F-E817-6D80D184493E}"/>
              </a:ext>
            </a:extLst>
          </p:cNvPr>
          <p:cNvCxnSpPr>
            <a:cxnSpLocks/>
          </p:cNvCxnSpPr>
          <p:nvPr/>
        </p:nvCxnSpPr>
        <p:spPr>
          <a:xfrm flipH="1" flipV="1">
            <a:off x="4040155" y="1101012"/>
            <a:ext cx="78145" cy="378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7F34F7A2-F73A-D558-1580-C4E101727254}"/>
              </a:ext>
            </a:extLst>
          </p:cNvPr>
          <p:cNvSpPr/>
          <p:nvPr/>
        </p:nvSpPr>
        <p:spPr>
          <a:xfrm>
            <a:off x="4709627" y="4881654"/>
            <a:ext cx="1474237" cy="4851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Selecione a cultura atual do pivô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4AEE37-7939-7130-962C-3DDF94874599}"/>
              </a:ext>
            </a:extLst>
          </p:cNvPr>
          <p:cNvCxnSpPr>
            <a:cxnSpLocks/>
          </p:cNvCxnSpPr>
          <p:nvPr/>
        </p:nvCxnSpPr>
        <p:spPr>
          <a:xfrm flipH="1" flipV="1">
            <a:off x="5281127" y="1101012"/>
            <a:ext cx="608822" cy="378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DB1A55B8-0D68-D4FE-4865-D95131732490}"/>
              </a:ext>
            </a:extLst>
          </p:cNvPr>
          <p:cNvSpPr/>
          <p:nvPr/>
        </p:nvSpPr>
        <p:spPr>
          <a:xfrm>
            <a:off x="6630178" y="4881654"/>
            <a:ext cx="1501064" cy="6904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De forma automática será  escrito o indicador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E046EC1-B401-485E-F602-D8860F42BF04}"/>
              </a:ext>
            </a:extLst>
          </p:cNvPr>
          <p:cNvSpPr/>
          <p:nvPr/>
        </p:nvSpPr>
        <p:spPr>
          <a:xfrm>
            <a:off x="8550728" y="4881654"/>
            <a:ext cx="1696229" cy="11196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Aqui selecione a situação da execução informe se foi feito ou o motivo do não feito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A904644-5FB0-E52B-CD01-68D67183BFD7}"/>
              </a:ext>
            </a:extLst>
          </p:cNvPr>
          <p:cNvSpPr/>
          <p:nvPr/>
        </p:nvSpPr>
        <p:spPr>
          <a:xfrm>
            <a:off x="10471280" y="4881654"/>
            <a:ext cx="1569875" cy="9703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Coloque a data da respectiva Ordem de Serviço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6DCBF75-EFCB-420C-4567-957934A41D4D}"/>
              </a:ext>
            </a:extLst>
          </p:cNvPr>
          <p:cNvCxnSpPr>
            <a:cxnSpLocks/>
          </p:cNvCxnSpPr>
          <p:nvPr/>
        </p:nvCxnSpPr>
        <p:spPr>
          <a:xfrm flipH="1" flipV="1">
            <a:off x="11075827" y="961053"/>
            <a:ext cx="652753" cy="39206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FEF2C3AF-37BB-A192-7AF2-C78158495B6A}"/>
              </a:ext>
            </a:extLst>
          </p:cNvPr>
          <p:cNvCxnSpPr>
            <a:cxnSpLocks/>
          </p:cNvCxnSpPr>
          <p:nvPr/>
        </p:nvCxnSpPr>
        <p:spPr>
          <a:xfrm flipH="1" flipV="1">
            <a:off x="8878077" y="1101012"/>
            <a:ext cx="273698" cy="378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A8953DA2-B649-15C8-05C6-DBDC047C5EFE}"/>
              </a:ext>
            </a:extLst>
          </p:cNvPr>
          <p:cNvCxnSpPr>
            <a:cxnSpLocks/>
          </p:cNvCxnSpPr>
          <p:nvPr/>
        </p:nvCxnSpPr>
        <p:spPr>
          <a:xfrm flipH="1" flipV="1">
            <a:off x="7079602" y="1101012"/>
            <a:ext cx="608822" cy="378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ângulo 43">
            <a:extLst>
              <a:ext uri="{FF2B5EF4-FFF2-40B4-BE49-F238E27FC236}">
                <a16:creationId xmlns:a16="http://schemas.microsoft.com/office/drawing/2014/main" id="{BCBBDEDB-3AC1-514A-1A30-CFA5F29009B3}"/>
              </a:ext>
            </a:extLst>
          </p:cNvPr>
          <p:cNvSpPr/>
          <p:nvPr/>
        </p:nvSpPr>
        <p:spPr>
          <a:xfrm>
            <a:off x="989045" y="6001327"/>
            <a:ext cx="5641133" cy="79310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Feito todos os preenchimentos corretamente, basta clicar em (</a:t>
            </a:r>
            <a:r>
              <a:rPr lang="pt-BR" sz="1600" i="1" u="sng" dirty="0"/>
              <a:t>Salvar Dados</a:t>
            </a:r>
            <a:r>
              <a:rPr lang="pt-BR" sz="1600" dirty="0"/>
              <a:t>) que as informações serão enviadas para a base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EB447046-C9AC-76EE-2694-9D3256F55D8B}"/>
              </a:ext>
            </a:extLst>
          </p:cNvPr>
          <p:cNvCxnSpPr>
            <a:cxnSpLocks/>
          </p:cNvCxnSpPr>
          <p:nvPr/>
        </p:nvCxnSpPr>
        <p:spPr>
          <a:xfrm flipV="1">
            <a:off x="5803641" y="550506"/>
            <a:ext cx="4516016" cy="545082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40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B49E2C-0B56-A64E-05F7-1A88AC157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28" y="240850"/>
            <a:ext cx="11045552" cy="415561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E048A4D-8D31-8716-6D36-3B8AC898EBAE}"/>
              </a:ext>
            </a:extLst>
          </p:cNvPr>
          <p:cNvSpPr/>
          <p:nvPr/>
        </p:nvSpPr>
        <p:spPr>
          <a:xfrm>
            <a:off x="683028" y="4842588"/>
            <a:ext cx="11045552" cy="16235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i="1" dirty="0"/>
              <a:t>Este é o campo para indicar o motivo das falhas Operacionais, falhas Elétricas e falhas Mecânicas</a:t>
            </a:r>
          </a:p>
        </p:txBody>
      </p:sp>
    </p:spTree>
    <p:extLst>
      <p:ext uri="{BB962C8B-B14F-4D97-AF65-F5344CB8AC3E}">
        <p14:creationId xmlns:p14="http://schemas.microsoft.com/office/powerpoint/2010/main" val="77813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B49E2C-0B56-A64E-05F7-1A88AC157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28" y="240850"/>
            <a:ext cx="11045552" cy="415561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E048A4D-8D31-8716-6D36-3B8AC898EBAE}"/>
              </a:ext>
            </a:extLst>
          </p:cNvPr>
          <p:cNvSpPr/>
          <p:nvPr/>
        </p:nvSpPr>
        <p:spPr>
          <a:xfrm>
            <a:off x="407436" y="4779018"/>
            <a:ext cx="2286001" cy="998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Primeiro selecione a fazenda, conforme a fazenda selecionada será validado os número somente de seus pivôs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F86476E-393B-C5FA-AE1D-B7E5DD8178E0}"/>
              </a:ext>
            </a:extLst>
          </p:cNvPr>
          <p:cNvSpPr/>
          <p:nvPr/>
        </p:nvSpPr>
        <p:spPr>
          <a:xfrm>
            <a:off x="3040225" y="4881654"/>
            <a:ext cx="1474237" cy="7931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Número do pivô Conforme a fazenda selecionada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5941C9A-47EB-47BA-068F-217B0FE18821}"/>
              </a:ext>
            </a:extLst>
          </p:cNvPr>
          <p:cNvCxnSpPr>
            <a:cxnSpLocks/>
          </p:cNvCxnSpPr>
          <p:nvPr/>
        </p:nvCxnSpPr>
        <p:spPr>
          <a:xfrm flipV="1">
            <a:off x="1116173" y="1101012"/>
            <a:ext cx="871247" cy="36780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EC16036-F323-AC1F-E817-6D80D184493E}"/>
              </a:ext>
            </a:extLst>
          </p:cNvPr>
          <p:cNvCxnSpPr>
            <a:cxnSpLocks/>
          </p:cNvCxnSpPr>
          <p:nvPr/>
        </p:nvCxnSpPr>
        <p:spPr>
          <a:xfrm flipH="1" flipV="1">
            <a:off x="4040155" y="1101012"/>
            <a:ext cx="78145" cy="378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7F34F7A2-F73A-D558-1580-C4E101727254}"/>
              </a:ext>
            </a:extLst>
          </p:cNvPr>
          <p:cNvSpPr/>
          <p:nvPr/>
        </p:nvSpPr>
        <p:spPr>
          <a:xfrm>
            <a:off x="4709627" y="4881654"/>
            <a:ext cx="1474237" cy="4851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Selecione a cultura atual do pivô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4AEE37-7939-7130-962C-3DDF94874599}"/>
              </a:ext>
            </a:extLst>
          </p:cNvPr>
          <p:cNvCxnSpPr>
            <a:cxnSpLocks/>
          </p:cNvCxnSpPr>
          <p:nvPr/>
        </p:nvCxnSpPr>
        <p:spPr>
          <a:xfrm flipH="1" flipV="1">
            <a:off x="5281127" y="1101012"/>
            <a:ext cx="608822" cy="378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DB1A55B8-0D68-D4FE-4865-D95131732490}"/>
              </a:ext>
            </a:extLst>
          </p:cNvPr>
          <p:cNvSpPr/>
          <p:nvPr/>
        </p:nvSpPr>
        <p:spPr>
          <a:xfrm>
            <a:off x="6509659" y="4881654"/>
            <a:ext cx="1747154" cy="8753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Na coluna indicador Selecione Operacional, Elétrico ou Mecânico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E046EC1-B401-485E-F602-D8860F42BF04}"/>
              </a:ext>
            </a:extLst>
          </p:cNvPr>
          <p:cNvSpPr/>
          <p:nvPr/>
        </p:nvSpPr>
        <p:spPr>
          <a:xfrm>
            <a:off x="8550728" y="4881653"/>
            <a:ext cx="1696229" cy="11196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Aqui selecione o motivo conforme o indicador da coluna anterior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A904644-5FB0-E52B-CD01-68D67183BFD7}"/>
              </a:ext>
            </a:extLst>
          </p:cNvPr>
          <p:cNvSpPr/>
          <p:nvPr/>
        </p:nvSpPr>
        <p:spPr>
          <a:xfrm>
            <a:off x="10471280" y="4881654"/>
            <a:ext cx="1569875" cy="9703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Coloque a data da respectiva Ordem de Serviço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6DCBF75-EFCB-420C-4567-957934A41D4D}"/>
              </a:ext>
            </a:extLst>
          </p:cNvPr>
          <p:cNvCxnSpPr>
            <a:cxnSpLocks/>
          </p:cNvCxnSpPr>
          <p:nvPr/>
        </p:nvCxnSpPr>
        <p:spPr>
          <a:xfrm flipH="1" flipV="1">
            <a:off x="11075827" y="961053"/>
            <a:ext cx="652753" cy="39206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FEF2C3AF-37BB-A192-7AF2-C78158495B6A}"/>
              </a:ext>
            </a:extLst>
          </p:cNvPr>
          <p:cNvCxnSpPr>
            <a:cxnSpLocks/>
          </p:cNvCxnSpPr>
          <p:nvPr/>
        </p:nvCxnSpPr>
        <p:spPr>
          <a:xfrm flipH="1" flipV="1">
            <a:off x="8878077" y="1101012"/>
            <a:ext cx="273698" cy="378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A8953DA2-B649-15C8-05C6-DBDC047C5EFE}"/>
              </a:ext>
            </a:extLst>
          </p:cNvPr>
          <p:cNvCxnSpPr>
            <a:cxnSpLocks/>
          </p:cNvCxnSpPr>
          <p:nvPr/>
        </p:nvCxnSpPr>
        <p:spPr>
          <a:xfrm flipH="1" flipV="1">
            <a:off x="7079602" y="1101012"/>
            <a:ext cx="608822" cy="378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ângulo 43">
            <a:extLst>
              <a:ext uri="{FF2B5EF4-FFF2-40B4-BE49-F238E27FC236}">
                <a16:creationId xmlns:a16="http://schemas.microsoft.com/office/drawing/2014/main" id="{BCBBDEDB-3AC1-514A-1A30-CFA5F29009B3}"/>
              </a:ext>
            </a:extLst>
          </p:cNvPr>
          <p:cNvSpPr/>
          <p:nvPr/>
        </p:nvSpPr>
        <p:spPr>
          <a:xfrm>
            <a:off x="989045" y="6001327"/>
            <a:ext cx="5641133" cy="79310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Feito todos os preenchimentos corretamente, basta clicar em (</a:t>
            </a:r>
            <a:r>
              <a:rPr lang="pt-BR" sz="1600" i="1" u="sng" dirty="0"/>
              <a:t>Salvar Dados</a:t>
            </a:r>
            <a:r>
              <a:rPr lang="pt-BR" sz="1600" dirty="0"/>
              <a:t>) que as informações serão enviadas para a base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EB447046-C9AC-76EE-2694-9D3256F55D8B}"/>
              </a:ext>
            </a:extLst>
          </p:cNvPr>
          <p:cNvCxnSpPr>
            <a:cxnSpLocks/>
          </p:cNvCxnSpPr>
          <p:nvPr/>
        </p:nvCxnSpPr>
        <p:spPr>
          <a:xfrm flipV="1">
            <a:off x="5803641" y="550506"/>
            <a:ext cx="4516016" cy="545082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62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3FA8C09-11EE-7C5C-72ED-8A7D9CDA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29" y="419259"/>
            <a:ext cx="6911939" cy="393988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E048A4D-8D31-8716-6D36-3B8AC898EBAE}"/>
              </a:ext>
            </a:extLst>
          </p:cNvPr>
          <p:cNvSpPr/>
          <p:nvPr/>
        </p:nvSpPr>
        <p:spPr>
          <a:xfrm>
            <a:off x="1524000" y="4727132"/>
            <a:ext cx="9143999" cy="15430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i="1" dirty="0"/>
              <a:t>Este é o campo para os lançamentos do planejado do dia conforme a Ordem de Serviço ou seja tudo que está programado de irrigação na OS deverá ser inserido aqui mesmo que não tenha finalizado ou que tenha sido cancelado. </a:t>
            </a:r>
            <a:r>
              <a:rPr lang="pt-BR" sz="2000" i="1" dirty="0" err="1"/>
              <a:t>Obs</a:t>
            </a:r>
            <a:r>
              <a:rPr lang="pt-BR" sz="2000" i="1" dirty="0"/>
              <a:t>: pivôs acrescentados ao longo do dia não entra como planejado.</a:t>
            </a:r>
          </a:p>
        </p:txBody>
      </p:sp>
    </p:spTree>
    <p:extLst>
      <p:ext uri="{BB962C8B-B14F-4D97-AF65-F5344CB8AC3E}">
        <p14:creationId xmlns:p14="http://schemas.microsoft.com/office/powerpoint/2010/main" val="2777967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3FA8C09-11EE-7C5C-72ED-8A7D9CDA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30" y="102019"/>
            <a:ext cx="6911939" cy="393988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E048A4D-8D31-8716-6D36-3B8AC898EBAE}"/>
              </a:ext>
            </a:extLst>
          </p:cNvPr>
          <p:cNvSpPr/>
          <p:nvPr/>
        </p:nvSpPr>
        <p:spPr>
          <a:xfrm>
            <a:off x="1430417" y="4696786"/>
            <a:ext cx="2286001" cy="998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Primeiro selecione a fazenda, conforme a fazenda selecionada será validado os número somente de seus pivôs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F86476E-393B-C5FA-AE1D-B7E5DD8178E0}"/>
              </a:ext>
            </a:extLst>
          </p:cNvPr>
          <p:cNvSpPr/>
          <p:nvPr/>
        </p:nvSpPr>
        <p:spPr>
          <a:xfrm>
            <a:off x="4118300" y="4706117"/>
            <a:ext cx="1474237" cy="7931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Número do pivô Conforme a fazenda selecionada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5941C9A-47EB-47BA-068F-217B0FE18821}"/>
              </a:ext>
            </a:extLst>
          </p:cNvPr>
          <p:cNvCxnSpPr>
            <a:cxnSpLocks/>
          </p:cNvCxnSpPr>
          <p:nvPr/>
        </p:nvCxnSpPr>
        <p:spPr>
          <a:xfrm flipV="1">
            <a:off x="2117828" y="1162839"/>
            <a:ext cx="1636322" cy="35432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EC16036-F323-AC1F-E817-6D80D184493E}"/>
              </a:ext>
            </a:extLst>
          </p:cNvPr>
          <p:cNvCxnSpPr>
            <a:cxnSpLocks/>
          </p:cNvCxnSpPr>
          <p:nvPr/>
        </p:nvCxnSpPr>
        <p:spPr>
          <a:xfrm flipV="1">
            <a:off x="4641323" y="1101012"/>
            <a:ext cx="244273" cy="36080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7F34F7A2-F73A-D558-1580-C4E101727254}"/>
              </a:ext>
            </a:extLst>
          </p:cNvPr>
          <p:cNvSpPr/>
          <p:nvPr/>
        </p:nvSpPr>
        <p:spPr>
          <a:xfrm>
            <a:off x="5803641" y="4696786"/>
            <a:ext cx="1474237" cy="4851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Selecione a cultura atual do pivô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4AEE37-7939-7130-962C-3DDF94874599}"/>
              </a:ext>
            </a:extLst>
          </p:cNvPr>
          <p:cNvCxnSpPr>
            <a:cxnSpLocks/>
          </p:cNvCxnSpPr>
          <p:nvPr/>
        </p:nvCxnSpPr>
        <p:spPr>
          <a:xfrm flipH="1" flipV="1">
            <a:off x="5990253" y="1101012"/>
            <a:ext cx="117799" cy="36080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DB1A55B8-0D68-D4FE-4865-D95131732490}"/>
              </a:ext>
            </a:extLst>
          </p:cNvPr>
          <p:cNvSpPr/>
          <p:nvPr/>
        </p:nvSpPr>
        <p:spPr>
          <a:xfrm>
            <a:off x="7625980" y="4762098"/>
            <a:ext cx="1747154" cy="8753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Valores da coluna indicador são gerados de forma automática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A904644-5FB0-E52B-CD01-68D67183BFD7}"/>
              </a:ext>
            </a:extLst>
          </p:cNvPr>
          <p:cNvSpPr/>
          <p:nvPr/>
        </p:nvSpPr>
        <p:spPr>
          <a:xfrm>
            <a:off x="9696494" y="4779018"/>
            <a:ext cx="1569875" cy="9703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Coloque a data da respectiva Ordem de Serviço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6DCBF75-EFCB-420C-4567-957934A41D4D}"/>
              </a:ext>
            </a:extLst>
          </p:cNvPr>
          <p:cNvCxnSpPr>
            <a:cxnSpLocks/>
          </p:cNvCxnSpPr>
          <p:nvPr/>
        </p:nvCxnSpPr>
        <p:spPr>
          <a:xfrm flipH="1" flipV="1">
            <a:off x="8959065" y="1101012"/>
            <a:ext cx="1593759" cy="36780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A8953DA2-B649-15C8-05C6-DBDC047C5EFE}"/>
              </a:ext>
            </a:extLst>
          </p:cNvPr>
          <p:cNvCxnSpPr>
            <a:cxnSpLocks/>
          </p:cNvCxnSpPr>
          <p:nvPr/>
        </p:nvCxnSpPr>
        <p:spPr>
          <a:xfrm flipH="1" flipV="1">
            <a:off x="8195923" y="981456"/>
            <a:ext cx="598471" cy="37619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ângulo 43">
            <a:extLst>
              <a:ext uri="{FF2B5EF4-FFF2-40B4-BE49-F238E27FC236}">
                <a16:creationId xmlns:a16="http://schemas.microsoft.com/office/drawing/2014/main" id="{BCBBDEDB-3AC1-514A-1A30-CFA5F29009B3}"/>
              </a:ext>
            </a:extLst>
          </p:cNvPr>
          <p:cNvSpPr/>
          <p:nvPr/>
        </p:nvSpPr>
        <p:spPr>
          <a:xfrm>
            <a:off x="989045" y="6001327"/>
            <a:ext cx="5641133" cy="79310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Feito todos os preenchimentos corretamente, basta clicar em (</a:t>
            </a:r>
            <a:r>
              <a:rPr lang="pt-BR" sz="1600" i="1" u="sng" dirty="0"/>
              <a:t>Salvar Dados</a:t>
            </a:r>
            <a:r>
              <a:rPr lang="pt-BR" sz="1600" dirty="0"/>
              <a:t>) que as informações serão enviadas para a base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EB447046-C9AC-76EE-2694-9D3256F55D8B}"/>
              </a:ext>
            </a:extLst>
          </p:cNvPr>
          <p:cNvCxnSpPr>
            <a:cxnSpLocks/>
          </p:cNvCxnSpPr>
          <p:nvPr/>
        </p:nvCxnSpPr>
        <p:spPr>
          <a:xfrm flipV="1">
            <a:off x="4885596" y="858417"/>
            <a:ext cx="3829196" cy="514291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063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0C67DE3-37C4-32BA-F90F-8031483F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4" y="227202"/>
            <a:ext cx="6093961" cy="293057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14A71B7-F3AC-B4E1-EDB2-829BB622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473" y="227202"/>
            <a:ext cx="4790002" cy="343366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7BEA82C7-7C4C-1506-627B-F21CE3CF1EF8}"/>
              </a:ext>
            </a:extLst>
          </p:cNvPr>
          <p:cNvSpPr/>
          <p:nvPr/>
        </p:nvSpPr>
        <p:spPr>
          <a:xfrm>
            <a:off x="1063691" y="4058816"/>
            <a:ext cx="10571583" cy="23946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i="1" dirty="0"/>
              <a:t>Estas são as base de indicadores e do planejado, quando for fazer novos lançamento é necessário verificar se as bases não estão com algum filtro aplicado, pois se estiver com algum filtro aplicado pode ocorrer divergências ao clicar em </a:t>
            </a:r>
            <a:r>
              <a:rPr lang="pt-BR" sz="2400" i="1" u="sng" dirty="0"/>
              <a:t>salvar dados </a:t>
            </a:r>
            <a:r>
              <a:rPr lang="pt-BR" sz="2400" i="1" dirty="0"/>
              <a:t>no campo de lançamentos.</a:t>
            </a:r>
          </a:p>
        </p:txBody>
      </p:sp>
    </p:spTree>
    <p:extLst>
      <p:ext uri="{BB962C8B-B14F-4D97-AF65-F5344CB8AC3E}">
        <p14:creationId xmlns:p14="http://schemas.microsoft.com/office/powerpoint/2010/main" val="4124003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403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Guia de Lançamentos para os Indicadores de Irrigação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de Lançamentos para os Indicadores de Irrigação</dc:title>
  <dc:creator>Kálito Wilk Vieira da Silva</dc:creator>
  <cp:lastModifiedBy>Kálito Wilk Vieira da Silva</cp:lastModifiedBy>
  <cp:revision>1</cp:revision>
  <dcterms:created xsi:type="dcterms:W3CDTF">2023-09-26T01:01:58Z</dcterms:created>
  <dcterms:modified xsi:type="dcterms:W3CDTF">2023-09-26T02:10:14Z</dcterms:modified>
</cp:coreProperties>
</file>